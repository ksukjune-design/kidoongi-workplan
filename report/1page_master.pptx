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  <a:srgbClr val="F1F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54619F-9A45-43D9-A437-0B570CC5604B}">
  <a:tblStyle styleId="{7154619F-9A45-43D9-A437-0B570CC5604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98" y="3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247775"/>
            <a:ext cx="11430000" cy="238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22457" y="409575"/>
            <a:ext cx="2388542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1247775"/>
            <a:ext cx="1908125" cy="238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53500" y="1677144"/>
            <a:ext cx="2857500" cy="2790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53500" y="4591050"/>
            <a:ext cx="2857500" cy="19811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808767" y="1231000"/>
            <a:ext cx="14077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 b="1">
                <a:solidFill>
                  <a:schemeClr val="bg1"/>
                </a:solidFill>
                <a:highlight>
                  <a:srgbClr val="2563EB"/>
                </a:highlight>
              </a:defRPr>
            </a:lvl1pPr>
          </a:lstStyle>
          <a:p>
            <a:r>
              <a:rPr 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7</a:t>
            </a:r>
            <a:r>
              <a:rPr lang="ko-KR" alt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월</a:t>
            </a:r>
            <a:r>
              <a:rPr 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2</a:t>
            </a:r>
            <a:r>
              <a:rPr lang="ko-KR" alt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주차</a:t>
            </a:r>
            <a:r>
              <a:rPr 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 </a:t>
            </a:r>
            <a:r>
              <a:rPr lang="en-US" dirty="0" err="1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설계</a:t>
            </a:r>
            <a:r>
              <a:rPr 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 · </a:t>
            </a:r>
            <a:r>
              <a:rPr lang="en-US" dirty="0" err="1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확정</a:t>
            </a:r>
            <a:endParaRPr dirty="0">
              <a:solidFill>
                <a:schemeClr val="tx1"/>
              </a:solidFill>
              <a:highlight>
                <a:srgbClr val="F1F5F9"/>
              </a:highlight>
              <a:latin typeface="+mn-ea"/>
              <a:ea typeface="+mn-ea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178200" y="1247775"/>
            <a:ext cx="19050" cy="2388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4704534" y="1232923"/>
            <a:ext cx="12795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 b="1">
                <a:solidFill>
                  <a:schemeClr val="bg1"/>
                </a:solidFill>
                <a:highlight>
                  <a:srgbClr val="2563EB"/>
                </a:highlight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~7</a:t>
            </a:r>
            <a:r>
              <a:rPr lang="ko-KR" alt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월말 </a:t>
            </a:r>
            <a:r>
              <a:rPr lang="en-US" dirty="0" err="1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구축</a:t>
            </a:r>
            <a:r>
              <a:rPr 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 · </a:t>
            </a:r>
            <a:r>
              <a:rPr lang="en-US" dirty="0" err="1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개발</a:t>
            </a:r>
            <a:endParaRPr dirty="0">
              <a:solidFill>
                <a:schemeClr val="tx1"/>
              </a:solidFill>
              <a:highlight>
                <a:srgbClr val="F1F5F9"/>
              </a:highlight>
              <a:latin typeface="+mn-ea"/>
              <a:ea typeface="+mn-ea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6086326" y="1247775"/>
            <a:ext cx="19050" cy="2388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6629596" y="1232923"/>
            <a:ext cx="13195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 b="1">
                <a:solidFill>
                  <a:schemeClr val="bg1"/>
                </a:solidFill>
                <a:highlight>
                  <a:srgbClr val="2563EB"/>
                </a:highlight>
              </a:defRPr>
            </a:lvl1pPr>
          </a:lstStyle>
          <a:p>
            <a:r>
              <a:rPr 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~8</a:t>
            </a:r>
            <a:r>
              <a:rPr lang="ko-KR" alt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월</a:t>
            </a:r>
            <a:r>
              <a:rPr lang="en-US" altLang="ko-KR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2</a:t>
            </a:r>
            <a:r>
              <a:rPr lang="ko-KR" alt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주</a:t>
            </a:r>
            <a:r>
              <a:rPr 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 </a:t>
            </a:r>
            <a:r>
              <a:rPr lang="en-US" dirty="0" err="1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통합</a:t>
            </a:r>
            <a:r>
              <a:rPr 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 · </a:t>
            </a:r>
            <a:r>
              <a:rPr lang="en-US" dirty="0" err="1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연동</a:t>
            </a:r>
            <a:endParaRPr dirty="0">
              <a:solidFill>
                <a:schemeClr val="tx1"/>
              </a:solidFill>
              <a:highlight>
                <a:srgbClr val="F1F5F9"/>
              </a:highlight>
              <a:latin typeface="+mn-ea"/>
              <a:ea typeface="+mn-ea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7994451" y="1247775"/>
            <a:ext cx="19050" cy="2388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8542974" y="1232923"/>
            <a:ext cx="11689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 b="1">
                <a:solidFill>
                  <a:schemeClr val="bg1"/>
                </a:solidFill>
                <a:highlight>
                  <a:srgbClr val="2563EB"/>
                </a:highlight>
              </a:defRPr>
            </a:lvl1pPr>
          </a:lstStyle>
          <a:p>
            <a:r>
              <a:rPr 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~8</a:t>
            </a:r>
            <a:r>
              <a:rPr lang="ko-KR" alt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5</a:t>
            </a:r>
            <a:r>
              <a:rPr lang="ko-KR" alt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주</a:t>
            </a:r>
            <a:r>
              <a:rPr 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· </a:t>
            </a:r>
            <a:r>
              <a:rPr lang="en-US" dirty="0" err="1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안정화</a:t>
            </a:r>
            <a:endParaRPr dirty="0">
              <a:solidFill>
                <a:schemeClr val="tx1"/>
              </a:solidFill>
              <a:highlight>
                <a:srgbClr val="F1F5F9"/>
              </a:highlight>
              <a:latin typeface="+mn-ea"/>
              <a:ea typeface="+mn-ea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9902576" y="1247775"/>
            <a:ext cx="19050" cy="2388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0430502" y="1232923"/>
            <a:ext cx="10230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 b="1">
                <a:solidFill>
                  <a:schemeClr val="bg1"/>
                </a:solidFill>
                <a:highlight>
                  <a:srgbClr val="2563EB"/>
                </a:highlight>
              </a:defRPr>
            </a:lvl1pPr>
          </a:lstStyle>
          <a:p>
            <a:r>
              <a:rPr lang="en-US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9/1 </a:t>
            </a:r>
            <a:r>
              <a:rPr lang="en-US" dirty="0" err="1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런칭</a:t>
            </a:r>
            <a:r>
              <a:rPr lang="en-US" dirty="0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 · </a:t>
            </a:r>
            <a:r>
              <a:rPr lang="en-US" dirty="0" err="1">
                <a:solidFill>
                  <a:schemeClr val="tx1"/>
                </a:solidFill>
                <a:highlight>
                  <a:srgbClr val="F1F5F9"/>
                </a:highlight>
                <a:latin typeface="+mn-ea"/>
                <a:ea typeface="+mn-ea"/>
              </a:rPr>
              <a:t>운영</a:t>
            </a:r>
            <a:endParaRPr dirty="0">
              <a:solidFill>
                <a:schemeClr val="tx1"/>
              </a:solidFill>
              <a:highlight>
                <a:srgbClr val="F1F5F9"/>
              </a:highlight>
              <a:latin typeface="+mn-ea"/>
              <a:ea typeface="+mn-ea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81000" y="285750"/>
            <a:ext cx="6320879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50" b="0" i="0" u="none" strike="noStrike" cap="none" dirty="0">
                <a:solidFill>
                  <a:srgbClr val="0F172A"/>
                </a:solidFill>
                <a:latin typeface="+mn-ea"/>
                <a:ea typeface="+mn-ea"/>
                <a:cs typeface="Arial"/>
                <a:sym typeface="Arial"/>
              </a:rPr>
              <a:t>아이그라운드</a:t>
            </a:r>
            <a:r>
              <a:rPr lang="en-US" sz="2550" b="0" i="0" u="none" strike="noStrike" cap="none" dirty="0">
                <a:solidFill>
                  <a:srgbClr val="0F172A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2550" b="0" i="0" u="none" strike="noStrike" cap="none" dirty="0" err="1">
                <a:solidFill>
                  <a:srgbClr val="0F172A"/>
                </a:solidFill>
                <a:latin typeface="+mn-ea"/>
                <a:ea typeface="+mn-ea"/>
                <a:cs typeface="Arial"/>
                <a:sym typeface="Arial"/>
              </a:rPr>
              <a:t>런칭</a:t>
            </a:r>
            <a:r>
              <a:rPr lang="en-US" sz="2550" b="0" i="0" u="none" strike="noStrike" cap="none" dirty="0">
                <a:solidFill>
                  <a:srgbClr val="0F172A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2550" b="0" i="0" u="none" strike="noStrike" cap="none" dirty="0" err="1">
                <a:solidFill>
                  <a:srgbClr val="0F172A"/>
                </a:solidFill>
                <a:latin typeface="+mn-ea"/>
                <a:ea typeface="+mn-ea"/>
                <a:cs typeface="Arial"/>
                <a:sym typeface="Arial"/>
              </a:rPr>
              <a:t>워크플랜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381000" y="762000"/>
            <a:ext cx="489659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+mn-ea"/>
                <a:ea typeface="+mn-ea"/>
                <a:cs typeface="Arial"/>
                <a:sym typeface="Arial"/>
              </a:rPr>
              <a:t>키디키디 앱 애드온 LLM 큐레이팅 검색 서비스</a:t>
            </a:r>
            <a:endParaRPr>
              <a:latin typeface="+mn-ea"/>
              <a:ea typeface="+mn-ea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9180378" y="514350"/>
            <a:ext cx="2521328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0F172A"/>
                </a:solidFill>
                <a:latin typeface="+mn-ea"/>
                <a:ea typeface="+mn-ea"/>
                <a:cs typeface="Arial"/>
                <a:sym typeface="Arial"/>
              </a:rPr>
              <a:t>런칭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050" b="1" i="0" u="none" strike="noStrike" cap="none" dirty="0" err="1">
                <a:solidFill>
                  <a:srgbClr val="0F172A"/>
                </a:solidFill>
                <a:latin typeface="+mn-ea"/>
                <a:ea typeface="+mn-ea"/>
                <a:cs typeface="Arial"/>
                <a:sym typeface="Arial"/>
              </a:rPr>
              <a:t>목표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+mn-ea"/>
                <a:ea typeface="+mn-ea"/>
                <a:cs typeface="Arial"/>
                <a:sym typeface="Arial"/>
              </a:rPr>
              <a:t>: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Arial"/>
                <a:sym typeface="Arial"/>
              </a:rPr>
              <a:t> 2026. 09. 01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9180378" y="685800"/>
            <a:ext cx="2521328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F172A"/>
                </a:solidFill>
                <a:latin typeface="+mn-ea"/>
                <a:ea typeface="+mn-ea"/>
                <a:cs typeface="Arial"/>
                <a:sym typeface="Arial"/>
              </a:rPr>
              <a:t>프로젝트 </a:t>
            </a:r>
            <a:r>
              <a:rPr lang="en-US" sz="1050" b="1" i="0" u="none" strike="noStrike" cap="none" dirty="0" err="1">
                <a:solidFill>
                  <a:srgbClr val="0F172A"/>
                </a:solidFill>
                <a:latin typeface="+mn-ea"/>
                <a:ea typeface="+mn-ea"/>
                <a:cs typeface="Arial"/>
                <a:sym typeface="Arial"/>
              </a:rPr>
              <a:t>기간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+mn-ea"/>
                <a:ea typeface="+mn-ea"/>
                <a:cs typeface="Arial"/>
                <a:sym typeface="Arial"/>
              </a:rPr>
              <a:t>: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Arial"/>
                <a:sym typeface="Arial"/>
              </a:rPr>
              <a:t> 총 11주 (6.24 ~ 9.1)</a:t>
            </a:r>
            <a:endParaRPr dirty="0">
              <a:latin typeface="+mn-ea"/>
              <a:ea typeface="+mn-ea"/>
            </a:endParaRPr>
          </a:p>
        </p:txBody>
      </p:sp>
      <p:pic>
        <p:nvPicPr>
          <p:cNvPr id="103" name="Google Shape;103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7003" y="1305222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47516" y="130522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41353" y="1305222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49479" y="1305222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43168" y="130522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380017" y="1305222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590550" y="1684823"/>
            <a:ext cx="81343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+mn-ea"/>
                <a:ea typeface="+mn-ea"/>
                <a:cs typeface="Arial"/>
                <a:sym typeface="Arial"/>
              </a:rPr>
              <a:t>상세 마일스톤 및 모니터링 기준 (Gantt Summary)</a:t>
            </a:r>
            <a:endParaRPr>
              <a:latin typeface="+mn-ea"/>
              <a:ea typeface="+mn-ea"/>
            </a:endParaRPr>
          </a:p>
        </p:txBody>
      </p:sp>
      <p:pic>
        <p:nvPicPr>
          <p:cNvPr id="112" name="Google Shape;112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81000" y="1700956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/>
        </p:nvSpPr>
        <p:spPr>
          <a:xfrm>
            <a:off x="9324975" y="1846748"/>
            <a:ext cx="23241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프로젝트 개요</a:t>
            </a:r>
            <a:endParaRPr>
              <a:latin typeface="+mn-ea"/>
              <a:ea typeface="+mn-ea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9115425" y="2125518"/>
            <a:ext cx="2533650" cy="225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○ 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키디키디 앱 </a:t>
            </a:r>
            <a:r>
              <a:rPr lang="en-US" sz="975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애드온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 LLM </a:t>
            </a:r>
            <a:r>
              <a:rPr lang="en-US" sz="975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큐레이팅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검색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 서비스 '</a:t>
            </a:r>
            <a:r>
              <a:rPr lang="ko-KR" alt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아이그라운드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'는 6월 24일 </a:t>
            </a:r>
            <a:r>
              <a:rPr lang="en-US" sz="975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킥오프를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시작으로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 9월 1일 </a:t>
            </a:r>
            <a:r>
              <a:rPr lang="en-US" sz="975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정식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런칭까지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1" i="0" u="none" strike="noStrike" cap="none" dirty="0">
                <a:solidFill>
                  <a:srgbClr val="1E40AF"/>
                </a:solidFill>
                <a:latin typeface="+mn-ea"/>
                <a:ea typeface="+mn-ea"/>
                <a:cs typeface="Arial"/>
                <a:sym typeface="Arial"/>
              </a:rPr>
              <a:t>총 11주간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 진</a:t>
            </a:r>
            <a:r>
              <a:rPr lang="ko-KR" alt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행</a:t>
            </a:r>
            <a:endParaRPr lang="en-US" altLang="ko-KR" sz="975" b="0" i="0" u="none" strike="noStrike" cap="none" dirty="0">
              <a:solidFill>
                <a:srgbClr val="1E3A8A"/>
              </a:solidFill>
              <a:latin typeface="+mn-ea"/>
              <a:ea typeface="+mn-ea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500" dirty="0">
              <a:solidFill>
                <a:srgbClr val="1E3A8A"/>
              </a:solidFill>
              <a:latin typeface="+mn-ea"/>
              <a:ea typeface="+mn-e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5" dirty="0">
                <a:solidFill>
                  <a:srgbClr val="1E3A8A"/>
                </a:solidFill>
                <a:latin typeface="+mn-ea"/>
                <a:ea typeface="+mn-ea"/>
                <a:sym typeface="Calibri"/>
              </a:rPr>
              <a:t>○기존 진행한 </a:t>
            </a:r>
            <a:r>
              <a:rPr lang="en-US" altLang="ko-KR" sz="975" dirty="0">
                <a:solidFill>
                  <a:srgbClr val="1E3A8A"/>
                </a:solidFill>
                <a:latin typeface="+mn-ea"/>
                <a:ea typeface="+mn-ea"/>
                <a:sym typeface="Calibri"/>
              </a:rPr>
              <a:t>2535 </a:t>
            </a:r>
            <a:r>
              <a:rPr lang="ko-KR" altLang="en-US" sz="975" dirty="0">
                <a:solidFill>
                  <a:srgbClr val="1E3A8A"/>
                </a:solidFill>
                <a:latin typeface="+mn-ea"/>
                <a:ea typeface="+mn-ea"/>
                <a:sym typeface="Calibri"/>
              </a:rPr>
              <a:t>쇼핑검색 앱의 개발 프레임워크를 따라서 순차적 진행</a:t>
            </a:r>
            <a:endParaRPr lang="en-US" sz="975" dirty="0">
              <a:solidFill>
                <a:srgbClr val="1E3A8A"/>
              </a:solidFill>
              <a:latin typeface="+mn-ea"/>
              <a:ea typeface="+mn-ea"/>
              <a:sym typeface="Calibri"/>
            </a:endParaRPr>
          </a:p>
          <a:p>
            <a:pPr>
              <a:lnSpc>
                <a:spcPct val="130000"/>
              </a:lnSpc>
            </a:pPr>
            <a:endParaRPr lang="en-US" sz="500" dirty="0">
              <a:solidFill>
                <a:srgbClr val="1E3A8A"/>
              </a:solidFill>
              <a:latin typeface="+mn-ea"/>
              <a:ea typeface="+mn-ea"/>
              <a:sym typeface="Calibri"/>
            </a:endParaRPr>
          </a:p>
          <a:p>
            <a:pPr lvl="0">
              <a:lnSpc>
                <a:spcPct val="130000"/>
              </a:lnSpc>
            </a:pPr>
            <a:r>
              <a:rPr lang="ko-KR" altLang="en-US" sz="975" dirty="0">
                <a:solidFill>
                  <a:srgbClr val="1E3A8A"/>
                </a:solidFill>
                <a:latin typeface="+mn-ea"/>
                <a:ea typeface="+mn-ea"/>
              </a:rPr>
              <a:t>○ </a:t>
            </a:r>
            <a:r>
              <a:rPr lang="en-US" sz="975" dirty="0">
                <a:solidFill>
                  <a:srgbClr val="1E3A8A"/>
                </a:solidFill>
                <a:latin typeface="+mn-ea"/>
                <a:ea typeface="+mn-ea"/>
                <a:sym typeface="Calibri"/>
              </a:rPr>
              <a:t>4</a:t>
            </a:r>
            <a:r>
              <a:rPr lang="ko-KR" altLang="en-US" sz="975" dirty="0">
                <a:solidFill>
                  <a:srgbClr val="1E3A8A"/>
                </a:solidFill>
                <a:latin typeface="+mn-ea"/>
                <a:ea typeface="+mn-ea"/>
                <a:sym typeface="Calibri"/>
              </a:rPr>
              <a:t>자 협업 프로젝트로 긴밀한 협의와 빠른 결정으로 짧은 기간내 개발수행이 핵심</a:t>
            </a:r>
            <a:endParaRPr lang="en-US" sz="975" dirty="0">
              <a:solidFill>
                <a:srgbClr val="1E3A8A"/>
              </a:solidFill>
              <a:latin typeface="+mn-ea"/>
              <a:ea typeface="+mn-ea"/>
              <a:sym typeface="Calibri"/>
            </a:endParaRPr>
          </a:p>
          <a:p>
            <a:pPr lvl="0">
              <a:lnSpc>
                <a:spcPct val="130000"/>
              </a:lnSpc>
            </a:pPr>
            <a:br>
              <a:rPr lang="en-US" sz="500" dirty="0">
                <a:solidFill>
                  <a:srgbClr val="1E3A8A"/>
                </a:solidFill>
                <a:latin typeface="+mn-ea"/>
                <a:ea typeface="+mn-ea"/>
                <a:sym typeface="Calibri"/>
              </a:rPr>
            </a:br>
            <a:r>
              <a:rPr lang="ko-KR" altLang="en-US" sz="975" dirty="0">
                <a:solidFill>
                  <a:srgbClr val="1E3A8A"/>
                </a:solidFill>
                <a:latin typeface="+mn-ea"/>
                <a:ea typeface="+mn-ea"/>
              </a:rPr>
              <a:t>○ </a:t>
            </a:r>
            <a:r>
              <a:rPr lang="en-US" sz="975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사용자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고객조사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(FGI) 3회를 </a:t>
            </a:r>
            <a:r>
              <a:rPr lang="en-US" sz="975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통해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 서비스 </a:t>
            </a:r>
            <a:r>
              <a:rPr lang="en-US" sz="975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품질을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지속적으로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검증하고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개선</a:t>
            </a:r>
            <a:r>
              <a:rPr 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975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Arial"/>
                <a:sym typeface="Arial"/>
              </a:rPr>
              <a:t>▶ 경영자 중간보고 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9324975" y="4735617"/>
            <a:ext cx="23241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91B1B"/>
                </a:solidFill>
                <a:latin typeface="+mn-ea"/>
                <a:ea typeface="+mn-ea"/>
                <a:cs typeface="Arial"/>
                <a:sym typeface="Arial"/>
              </a:rPr>
              <a:t>핵심 리스크 · 의사결정</a:t>
            </a:r>
            <a:endParaRPr>
              <a:latin typeface="+mn-ea"/>
              <a:ea typeface="+mn-ea"/>
            </a:endParaRPr>
          </a:p>
        </p:txBody>
      </p:sp>
      <p:pic>
        <p:nvPicPr>
          <p:cNvPr id="188" name="Google Shape;188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115425" y="186288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115425" y="475175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3"/>
          <p:cNvSpPr txBox="1"/>
          <p:nvPr/>
        </p:nvSpPr>
        <p:spPr>
          <a:xfrm>
            <a:off x="9305925" y="5023213"/>
            <a:ext cx="234315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정식 네이밍 확정 지연</a:t>
            </a:r>
            <a:endParaRPr>
              <a:latin typeface="+mn-ea"/>
              <a:ea typeface="+mn-ea"/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9305925" y="5323251"/>
            <a:ext cx="234315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데이터</a:t>
            </a:r>
            <a:r>
              <a:rPr lang="en-US" sz="975" b="0" i="0" u="none" strike="noStrike" cap="none" dirty="0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정제</a:t>
            </a:r>
            <a:r>
              <a:rPr lang="en-US" sz="975" b="0" i="0" u="none" strike="noStrike" cap="none" dirty="0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 및 </a:t>
            </a: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색인</a:t>
            </a:r>
            <a:r>
              <a:rPr lang="en-US" sz="975" b="0" i="0" u="none" strike="noStrike" cap="none" dirty="0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품질</a:t>
            </a:r>
            <a:r>
              <a:rPr lang="en-US" sz="975" b="0" i="0" u="none" strike="noStrike" cap="none" dirty="0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이슈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9305925" y="5623288"/>
            <a:ext cx="234315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커머스</a:t>
            </a:r>
            <a:r>
              <a:rPr lang="en-US" sz="975" b="0" i="0" u="none" strike="noStrike" cap="none" dirty="0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플랫폼</a:t>
            </a:r>
            <a:r>
              <a:rPr lang="en-US" sz="975" b="0" i="0" u="none" strike="noStrike" cap="none" dirty="0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연동</a:t>
            </a:r>
            <a:r>
              <a:rPr lang="en-US" sz="975" b="0" i="0" u="none" strike="noStrike" cap="none" dirty="0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범위</a:t>
            </a:r>
            <a:r>
              <a:rPr lang="en-US" sz="975" b="0" i="0" u="none" strike="noStrike" cap="none" dirty="0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 및 </a:t>
            </a: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기술적</a:t>
            </a:r>
            <a:r>
              <a:rPr lang="en-US" sz="975" b="0" i="0" u="none" strike="noStrike" cap="none" dirty="0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제약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93" name="Google Shape;193;p13"/>
          <p:cNvSpPr txBox="1"/>
          <p:nvPr/>
        </p:nvSpPr>
        <p:spPr>
          <a:xfrm>
            <a:off x="9305925" y="5923326"/>
            <a:ext cx="234315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앱스토어</a:t>
            </a:r>
            <a:r>
              <a:rPr lang="en-US" sz="975" b="0" i="0" u="none" strike="noStrike" cap="none" dirty="0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심사</a:t>
            </a:r>
            <a:r>
              <a:rPr lang="en-US" sz="975" b="0" i="0" u="none" strike="noStrike" cap="none" dirty="0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리드타임</a:t>
            </a:r>
            <a:r>
              <a:rPr lang="en-US" sz="975" b="0" i="0" u="none" strike="noStrike" cap="none" dirty="0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지연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9305925" y="6223363"/>
            <a:ext cx="234315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키디</a:t>
            </a:r>
            <a:r>
              <a:rPr lang="en-US" sz="975" b="0" i="0" u="none" strike="noStrike" cap="none" dirty="0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트래픽</a:t>
            </a:r>
            <a:r>
              <a:rPr lang="en-US" sz="975" b="0" i="0" u="none" strike="noStrike" cap="none" dirty="0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 30%</a:t>
            </a:r>
            <a:r>
              <a:rPr lang="ko-KR" altLang="en-US" sz="975" b="0" i="0" u="none" strike="noStrike" cap="none" dirty="0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까지 최대 </a:t>
            </a:r>
            <a:r>
              <a:rPr lang="en-US" sz="975" b="0" i="0" u="none" strike="noStrike" cap="none" dirty="0" err="1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부하</a:t>
            </a:r>
            <a:r>
              <a:rPr lang="en-US" sz="975" b="0" i="0" u="none" strike="noStrike" cap="none" dirty="0">
                <a:solidFill>
                  <a:srgbClr val="7F1D1D"/>
                </a:solidFill>
                <a:latin typeface="+mn-ea"/>
                <a:ea typeface="+mn-ea"/>
                <a:cs typeface="Arial"/>
                <a:sym typeface="Arial"/>
              </a:rPr>
              <a:t>  </a:t>
            </a:r>
            <a:r>
              <a:rPr lang="ko-KR" altLang="en-US" sz="975" dirty="0">
                <a:solidFill>
                  <a:srgbClr val="7F1D1D"/>
                </a:solidFill>
                <a:latin typeface="+mn-ea"/>
                <a:ea typeface="+mn-ea"/>
              </a:rPr>
              <a:t>고려</a:t>
            </a:r>
            <a:endParaRPr dirty="0">
              <a:latin typeface="+mn-ea"/>
              <a:ea typeface="+mn-ea"/>
            </a:endParaRPr>
          </a:p>
        </p:txBody>
      </p:sp>
      <p:pic>
        <p:nvPicPr>
          <p:cNvPr id="195" name="Google Shape;195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115425" y="5037501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115425" y="5337538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115425" y="5637576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115425" y="5937613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115425" y="6237651"/>
            <a:ext cx="12382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68B2A7-1385-48C1-B6B0-525FBA5E3DCB}"/>
              </a:ext>
            </a:extLst>
          </p:cNvPr>
          <p:cNvSpPr txBox="1"/>
          <p:nvPr/>
        </p:nvSpPr>
        <p:spPr>
          <a:xfrm>
            <a:off x="367434" y="1244491"/>
            <a:ext cx="19367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highlight>
                  <a:srgbClr val="2563EB"/>
                </a:highlight>
                <a:latin typeface="+mn-ea"/>
                <a:ea typeface="+mn-ea"/>
              </a:rPr>
              <a:t>지난주</a:t>
            </a:r>
            <a:r>
              <a:rPr lang="en-US" altLang="ko-KR" sz="1000" b="1" dirty="0">
                <a:solidFill>
                  <a:schemeClr val="bg1"/>
                </a:solidFill>
                <a:highlight>
                  <a:srgbClr val="2563EB"/>
                </a:highlight>
                <a:latin typeface="+mn-ea"/>
                <a:ea typeface="+mn-ea"/>
              </a:rPr>
              <a:t>~7</a:t>
            </a:r>
            <a:r>
              <a:rPr lang="ko-KR" altLang="en-US" sz="1000" b="1" dirty="0">
                <a:solidFill>
                  <a:schemeClr val="bg1"/>
                </a:solidFill>
                <a:highlight>
                  <a:srgbClr val="2563EB"/>
                </a:highlight>
                <a:latin typeface="+mn-ea"/>
                <a:ea typeface="+mn-ea"/>
              </a:rPr>
              <a:t>월</a:t>
            </a:r>
            <a:r>
              <a:rPr lang="en-US" altLang="ko-KR" sz="1000" b="1" dirty="0">
                <a:solidFill>
                  <a:schemeClr val="bg1"/>
                </a:solidFill>
                <a:highlight>
                  <a:srgbClr val="2563EB"/>
                </a:highlight>
                <a:latin typeface="+mn-ea"/>
                <a:ea typeface="+mn-ea"/>
              </a:rPr>
              <a:t>1</a:t>
            </a:r>
            <a:r>
              <a:rPr lang="ko-KR" altLang="en-US" sz="1000" b="1" dirty="0">
                <a:solidFill>
                  <a:schemeClr val="bg1"/>
                </a:solidFill>
                <a:highlight>
                  <a:srgbClr val="2563EB"/>
                </a:highlight>
                <a:latin typeface="+mn-ea"/>
                <a:ea typeface="+mn-ea"/>
              </a:rPr>
              <a:t>주차 킥오프</a:t>
            </a:r>
            <a:r>
              <a:rPr lang="en-US" altLang="ko-KR" sz="1000" b="1" dirty="0">
                <a:solidFill>
                  <a:schemeClr val="bg1"/>
                </a:solidFill>
                <a:highlight>
                  <a:srgbClr val="2563EB"/>
                </a:highlight>
                <a:latin typeface="+mn-ea"/>
                <a:ea typeface="+mn-ea"/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  <a:highlight>
                  <a:srgbClr val="2563EB"/>
                </a:highlight>
                <a:latin typeface="+mn-ea"/>
                <a:ea typeface="+mn-ea"/>
              </a:rPr>
              <a:t>검토</a:t>
            </a:r>
          </a:p>
        </p:txBody>
      </p:sp>
      <p:graphicFrame>
        <p:nvGraphicFramePr>
          <p:cNvPr id="200" name="Google Shape;111;p13">
            <a:extLst>
              <a:ext uri="{FF2B5EF4-FFF2-40B4-BE49-F238E27FC236}">
                <a16:creationId xmlns:a16="http://schemas.microsoft.com/office/drawing/2014/main" id="{A643D05D-B8AE-4BEE-BEA5-38927CCB61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40481"/>
              </p:ext>
            </p:extLst>
          </p:nvPr>
        </p:nvGraphicFramePr>
        <p:xfrm>
          <a:off x="381000" y="1982339"/>
          <a:ext cx="8334375" cy="4589913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6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6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3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시점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마일스톤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실행하는 액션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spc="-50" baseline="0" dirty="0">
                          <a:latin typeface="+mn-ea"/>
                          <a:ea typeface="+mn-ea"/>
                          <a:sym typeface="Arial"/>
                        </a:rPr>
                        <a:t>연관 부문</a:t>
                      </a:r>
                      <a:endParaRPr lang="en-US" altLang="ko-KR" sz="1000" u="none" strike="noStrike" cap="none" spc="-50" baseline="0" dirty="0">
                        <a:latin typeface="+mn-ea"/>
                        <a:ea typeface="+mn-ea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u="none" strike="noStrike" cap="none" spc="-50" baseline="0" dirty="0">
                          <a:latin typeface="+mn-ea"/>
                          <a:ea typeface="+mn-ea"/>
                          <a:sym typeface="Arial"/>
                        </a:rPr>
                        <a:t>(</a:t>
                      </a:r>
                      <a:r>
                        <a:rPr lang="ko-KR" altLang="en-US" sz="1000" u="none" strike="noStrike" cap="none" spc="-50" baseline="0" dirty="0">
                          <a:latin typeface="+mn-ea"/>
                          <a:ea typeface="+mn-ea"/>
                          <a:sym typeface="Arial"/>
                        </a:rPr>
                        <a:t>조직</a:t>
                      </a:r>
                      <a:r>
                        <a:rPr lang="en-US" altLang="ko-KR" sz="1000" u="none" strike="noStrike" cap="none" spc="-50" baseline="0" dirty="0">
                          <a:latin typeface="+mn-ea"/>
                          <a:ea typeface="+mn-ea"/>
                          <a:sym typeface="Arial"/>
                        </a:rPr>
                        <a:t>, </a:t>
                      </a:r>
                      <a:r>
                        <a:rPr lang="ko-KR" altLang="en-US" sz="1000" u="none" strike="noStrike" cap="none" spc="-50" baseline="0" dirty="0">
                          <a:latin typeface="+mn-ea"/>
                          <a:ea typeface="+mn-ea"/>
                          <a:sym typeface="Arial"/>
                        </a:rPr>
                        <a:t>이슈</a:t>
                      </a:r>
                      <a:r>
                        <a:rPr lang="en-US" altLang="ko-KR" sz="1000" u="none" strike="noStrike" cap="none" spc="-50" baseline="0" dirty="0">
                          <a:latin typeface="+mn-ea"/>
                          <a:ea typeface="+mn-ea"/>
                          <a:sym typeface="Arial"/>
                        </a:rPr>
                        <a:t>)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아웃풋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완료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판정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기준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3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>
                          <a:sym typeface="Arial"/>
                        </a:rPr>
                        <a:t>6/24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킥오프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및 서비스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범위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확정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>
                          <a:sym typeface="Arial"/>
                        </a:rPr>
                        <a:t>프로젝트 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목표 및 </a:t>
                      </a:r>
                      <a:r>
                        <a:rPr lang="ko-KR" altLang="en-US" sz="1000" u="none" strike="noStrike" cap="none" spc="-50" baseline="0" dirty="0" err="1">
                          <a:sym typeface="Arial"/>
                        </a:rPr>
                        <a:t>아키텍쳐등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 셋업</a:t>
                      </a:r>
                      <a:endParaRPr lang="en-US" altLang="ko-KR" sz="1000" u="none" strike="noStrike" cap="none" spc="-50" baseline="0" dirty="0"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개발 범위와 투입할 리소스 확정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>
                          <a:sym typeface="Arial"/>
                        </a:rPr>
                        <a:t>PM,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사업부문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이노플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킥오프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미팅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서비스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목표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확정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>
                          <a:sym typeface="Arial"/>
                        </a:rPr>
                        <a:t>4자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킥오프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완료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서비스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범위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합의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7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>
                          <a:sym typeface="Arial"/>
                        </a:rPr>
                        <a:t>7/13</a:t>
                      </a:r>
                      <a:endParaRPr sz="1000" spc="-50" baseline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인프라·아키텍처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설계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확정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아이그라운드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가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안정적으로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구동될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기술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기반과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기존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시스템과의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연동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방안을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결정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인프라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서버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연동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>
                          <a:sym typeface="Arial"/>
                        </a:rPr>
                        <a:t>인프라 설계, 아키텍처 범위 확정</a:t>
                      </a:r>
                      <a:endParaRPr sz="1000" spc="-50" baseline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최종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인프라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설계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확정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연동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범위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합의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3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>
                          <a:sym typeface="Arial"/>
                        </a:rPr>
                        <a:t>7/20</a:t>
                      </a:r>
                      <a:endParaRPr sz="1000" spc="-50" baseline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정식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네이밍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최종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확정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아이그라운드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의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공식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이름을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확정하여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디자인과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개발에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반영할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준비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완료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마케팅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네이밍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>
                          <a:sym typeface="Arial"/>
                        </a:rPr>
                        <a:t>네이밍 후보 검토, 상표/도메인 확인</a:t>
                      </a:r>
                      <a:endParaRPr sz="1000" spc="-50" baseline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서비스명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최종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확정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3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>
                          <a:sym typeface="Arial"/>
                        </a:rPr>
                        <a:t>7/31</a:t>
                      </a:r>
                      <a:endParaRPr sz="1000" spc="-50" baseline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사용자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고객조사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#1 · Alpha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핵심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기능이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구현된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초기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버전을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사용자들이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직접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체험하고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개선점을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파악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개발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상품운영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(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고객조사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)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>
                          <a:sym typeface="Arial"/>
                        </a:rPr>
                        <a:t>핵심기능 구동본 통합, 1차 FGI 실시</a:t>
                      </a:r>
                      <a:endParaRPr sz="1000" spc="-50" baseline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>
                          <a:sym typeface="Arial"/>
                        </a:rPr>
                        <a:t>Alpha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버전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구동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FGI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결과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보고서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7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>
                          <a:sym typeface="Arial"/>
                        </a:rPr>
                        <a:t>8/14</a:t>
                      </a:r>
                      <a:endParaRPr sz="1000" spc="-50" baseline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사용자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고객조사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#2 · Beta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>
                          <a:sym typeface="Arial"/>
                        </a:rPr>
                        <a:t>키디키디 앱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과의 연결성 확보 </a:t>
                      </a:r>
                      <a:r>
                        <a:rPr lang="en-US" altLang="ko-KR" sz="1000" u="none" strike="noStrike" cap="none" spc="-50" baseline="0" dirty="0">
                          <a:sym typeface="Arial"/>
                        </a:rPr>
                        <a:t>–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통합된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베타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버전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으로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사용자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경험을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검증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연동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개발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디자인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마케팅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>
                          <a:sym typeface="Arial"/>
                        </a:rPr>
                        <a:t>키디 앱 임베드, 1차 FGI 개선 반영</a:t>
                      </a:r>
                      <a:endParaRPr sz="1000" spc="-50" baseline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>
                          <a:sym typeface="Arial"/>
                        </a:rPr>
                        <a:t>Beta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버전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완성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FGI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결과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보고서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3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>
                          <a:sym typeface="Arial"/>
                        </a:rPr>
                        <a:t>8/21</a:t>
                      </a:r>
                      <a:endParaRPr sz="1000" spc="-50" baseline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기능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동결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및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안정화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신규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기능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개발을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마감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(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추가</a:t>
                      </a:r>
                      <a:r>
                        <a:rPr lang="en-US" altLang="ko-KR" sz="1000" u="none" strike="noStrike" cap="none" spc="-50" baseline="0" dirty="0">
                          <a:sym typeface="Arial"/>
                        </a:rPr>
                        <a:t>X)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하고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서비스의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안정성과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품질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확보에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집중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>
                          <a:sym typeface="Arial"/>
                        </a:rPr>
                        <a:t>개발, QA</a:t>
                      </a:r>
                      <a:endParaRPr sz="1000" spc="-50" baseline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기능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통합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빌드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코드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프리즈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기능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동결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결정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버그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픽스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시작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37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>
                          <a:sym typeface="Arial"/>
                        </a:rPr>
                        <a:t>8/28</a:t>
                      </a:r>
                      <a:endParaRPr sz="1000" spc="-50" baseline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사용자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고객조사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#3 ·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최종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V1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배포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직전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최종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버전을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사용자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가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검토하여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최종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품질과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사용자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만족도를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확인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>
                          <a:sym typeface="Arial"/>
                        </a:rPr>
                        <a:t>상품운영, QA, PM</a:t>
                      </a:r>
                      <a:endParaRPr sz="1000" spc="-50" baseline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>
                          <a:sym typeface="Arial"/>
                        </a:rPr>
                        <a:t>3차 FGI – 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사용자 인수테스트</a:t>
                      </a:r>
                      <a:r>
                        <a:rPr lang="en-US" altLang="ko-KR" sz="1000" u="none" strike="noStrike" cap="none" spc="-50" baseline="0" dirty="0">
                          <a:sym typeface="Arial"/>
                        </a:rPr>
                        <a:t>(UAT)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최종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버전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검증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완료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FGI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결과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보고서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3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>
                          <a:sym typeface="Arial"/>
                        </a:rPr>
                        <a:t>8/28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런칭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최종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승인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모든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준비가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완료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확인 및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경영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자의 검토 및 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서비스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런칭을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승인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(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경쟁사 비교검토</a:t>
                      </a:r>
                      <a:r>
                        <a:rPr lang="en-US" altLang="ko-KR" sz="1000" u="none" strike="noStrike" cap="none" spc="-50" baseline="0" dirty="0">
                          <a:sym typeface="Arial"/>
                        </a:rPr>
                        <a:t>)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>
                          <a:sym typeface="Arial"/>
                        </a:rPr>
                        <a:t>PM, QA, 경영진</a:t>
                      </a:r>
                      <a:endParaRPr sz="1000" spc="-50" baseline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u="none" strike="noStrike" cap="none" spc="-50" baseline="0" dirty="0">
                          <a:sym typeface="Arial"/>
                        </a:rPr>
                        <a:t>UAT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종합 </a:t>
                      </a:r>
                      <a:r>
                        <a:rPr lang="en-US" altLang="ko-KR" sz="1000" u="none" strike="noStrike" cap="none" spc="-50" baseline="0" dirty="0">
                          <a:sym typeface="Arial"/>
                        </a:rPr>
                        <a:t>- 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경쟁사 대비 적중도</a:t>
                      </a:r>
                      <a:r>
                        <a:rPr lang="en-US" altLang="ko-KR" sz="1000" u="none" strike="noStrike" cap="none" spc="-50" baseline="0" dirty="0">
                          <a:sym typeface="Arial"/>
                        </a:rPr>
                        <a:t>/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심도</a:t>
                      </a:r>
                      <a:r>
                        <a:rPr lang="en-US" altLang="ko-KR" sz="1000" u="none" strike="noStrike" cap="none" spc="-50" baseline="0" dirty="0">
                          <a:sym typeface="Arial"/>
                        </a:rPr>
                        <a:t>/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속도 평가 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업데이트 배포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최종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의사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결정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**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3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>
                          <a:sym typeface="Arial"/>
                        </a:rPr>
                        <a:t>9/01</a:t>
                      </a:r>
                      <a:endParaRPr sz="1000" spc="-50" baseline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아이그라운드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정식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런칭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>
                          <a:sym typeface="Arial"/>
                        </a:rPr>
                        <a:t>키디키디 앱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업데이트를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통해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'</a:t>
                      </a:r>
                      <a:r>
                        <a:rPr lang="ko-KR" altLang="en-US" sz="1000" u="none" strike="noStrike" cap="none" spc="-50" baseline="0" dirty="0">
                          <a:sym typeface="Arial"/>
                        </a:rPr>
                        <a:t>아이그라운드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' 서비스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공식적으로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오픈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>
                          <a:sym typeface="Arial"/>
                        </a:rPr>
                        <a:t>QA, 런칭, 운영</a:t>
                      </a:r>
                      <a:endParaRPr sz="1000" spc="-50" baseline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 err="1">
                          <a:sym typeface="Arial"/>
                        </a:rPr>
                        <a:t>프로덕션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배포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서비스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오픈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-50" baseline="0" dirty="0">
                          <a:sym typeface="Arial"/>
                        </a:rPr>
                        <a:t>키디키디 앱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업데이트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완료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, 서비스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정상</a:t>
                      </a:r>
                      <a:r>
                        <a:rPr lang="en-US" sz="1000" u="none" strike="noStrike" cap="none" spc="-50" baseline="0" dirty="0">
                          <a:sym typeface="Arial"/>
                        </a:rPr>
                        <a:t> </a:t>
                      </a:r>
                      <a:r>
                        <a:rPr lang="en-US" sz="1000" u="none" strike="noStrike" cap="none" spc="-50" baseline="0" dirty="0" err="1">
                          <a:sym typeface="Arial"/>
                        </a:rPr>
                        <a:t>운영</a:t>
                      </a:r>
                      <a:endParaRPr sz="1000" spc="-50" baseline="0"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화살표: 갈매기형 수장 2">
            <a:extLst>
              <a:ext uri="{FF2B5EF4-FFF2-40B4-BE49-F238E27FC236}">
                <a16:creationId xmlns:a16="http://schemas.microsoft.com/office/drawing/2014/main" id="{FD74514D-8D67-42C4-85E9-6342E9A21577}"/>
              </a:ext>
            </a:extLst>
          </p:cNvPr>
          <p:cNvSpPr/>
          <p:nvPr/>
        </p:nvSpPr>
        <p:spPr>
          <a:xfrm>
            <a:off x="2298906" y="1270635"/>
            <a:ext cx="193935" cy="181272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534</Words>
  <Application>Microsoft Office PowerPoint</Application>
  <PresentationFormat>와이드스크린</PresentationFormat>
  <Paragraphs>86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김석준(그룹온라인 AI커머스 TF)</cp:lastModifiedBy>
  <cp:revision>4</cp:revision>
  <dcterms:modified xsi:type="dcterms:W3CDTF">2026-07-03T01:52:43Z</dcterms:modified>
</cp:coreProperties>
</file>